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966960" y="0"/>
            <a:ext cx="2221992" cy="6858000"/>
          </a:xfrm>
          <a:prstGeom prst="rect">
            <a:avLst/>
          </a:prstGeom>
          <a:solidFill>
            <a:srgbClr val="19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85953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Sales Analysis &amp; Dashboard</a:t>
            </a:r>
          </a:p>
          <a:p>
            <a:pPr>
              <a:spcBef>
                <a:spcPts val="1000"/>
              </a:spcBef>
              <a:defRPr sz="2100">
                <a:solidFill>
                  <a:srgbClr val="CDDCE8"/>
                </a:solidFill>
                <a:latin typeface="Aptos"/>
              </a:defRPr>
            </a:pPr>
            <a:r>
              <a:rPr dirty="0" err="1"/>
              <a:t>ShadowFox</a:t>
            </a:r>
            <a:r>
              <a:rPr dirty="0"/>
              <a:t> Data Analyst Internship — Beginner 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114800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9191"/>
                </a:solidFill>
                <a:latin typeface="Aptos"/>
              </a:defRPr>
            </a:pPr>
            <a:r>
              <a:rPr dirty="0"/>
              <a:t>Superstore Sales Dataset</a:t>
            </a:r>
          </a:p>
          <a:p>
            <a:pPr>
              <a:defRPr sz="1700">
                <a:solidFill>
                  <a:srgbClr val="FFFFFF"/>
                </a:solidFill>
                <a:latin typeface="Aptos"/>
              </a:defRPr>
            </a:pPr>
            <a:r>
              <a:rPr dirty="0"/>
              <a:t>Prepared by: </a:t>
            </a:r>
            <a:r>
              <a:rPr dirty="0" err="1"/>
              <a:t>Prensi</a:t>
            </a:r>
            <a:endParaRPr dirty="0"/>
          </a:p>
          <a:p>
            <a:pPr>
              <a:defRPr sz="1500">
                <a:solidFill>
                  <a:srgbClr val="BECAD6"/>
                </a:solidFill>
                <a:latin typeface="Aptos"/>
              </a:defRPr>
            </a:pPr>
            <a:r>
              <a:rPr dirty="0"/>
              <a:t>Tools: Microsoft Excel</a:t>
            </a:r>
          </a:p>
        </p:txBody>
      </p:sp>
    </p:spTree>
  </p:cSld>
  <p:clrMapOvr>
    <a:masterClrMapping/>
  </p:clrMapOvr>
  <p:transition spd="med" advTm="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4" dur="indefinite" nodeType="mainSeq"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7" dur="5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0" dur="5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rPr dirty="0"/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978"/>
                </a:solidFill>
                <a:latin typeface="Aptos"/>
              </a:defRPr>
            </a:pPr>
            <a:r>
              <a:rPr dirty="0"/>
              <a:t>Business-focused analysis of sales, profitability and product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15568"/>
            <a:ext cx="914400" cy="5486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43891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rPr dirty="0"/>
              <a:t>• Analyze Superstore sales data to understand overall business performance.</a:t>
            </a:r>
          </a:p>
          <a:p>
            <a:pPr>
              <a:spcAft>
                <a:spcPts val="9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rPr dirty="0"/>
              <a:t>• Clean and organize the dataset before analysis.</a:t>
            </a:r>
          </a:p>
          <a:p>
            <a:pPr>
              <a:spcAft>
                <a:spcPts val="9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rPr dirty="0"/>
              <a:t>• Measure key KPIs including Sales, Profit, Quantity and Orders.</a:t>
            </a:r>
          </a:p>
          <a:p>
            <a:pPr>
              <a:spcAft>
                <a:spcPts val="9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rPr dirty="0"/>
              <a:t>• Identify monthly trends, category performance and top-selling products.</a:t>
            </a:r>
          </a:p>
          <a:p>
            <a:pPr>
              <a:spcAft>
                <a:spcPts val="9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rPr dirty="0"/>
              <a:t>• Convert findings into actionable business insights and recommendations.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15600" cy="594360"/>
          </a:xfrm>
          <a:prstGeom prst="roundRect">
            <a:avLst/>
          </a:prstGeom>
          <a:solidFill>
            <a:srgbClr val="F5F8FB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56235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33C"/>
                </a:solidFill>
                <a:latin typeface="Aptos"/>
              </a:defRPr>
            </a:pPr>
            <a:r>
              <a:rPr dirty="0"/>
              <a:t>Focus: turn raw sales data into clear, decision-ready business information.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  <p:transition spd="med" advTm="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rPr dirty="0"/>
              <a:t>Dataset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978"/>
                </a:solidFill>
                <a:latin typeface="Aptos"/>
              </a:defRPr>
            </a:pPr>
            <a:r>
              <a:rPr dirty="0"/>
              <a:t>Source structure and analysis environment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15568"/>
            <a:ext cx="914400" cy="5486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64008" cy="1234440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64591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978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984248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  <a:latin typeface="Aptos Display"/>
              </a:defRPr>
            </a:pPr>
            <a:r>
              <a:rPr dirty="0"/>
              <a:t>10,194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508760"/>
            <a:ext cx="64008" cy="123444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1" y="164591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978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1984248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  <a:latin typeface="Aptos Display"/>
              </a:defRPr>
            </a:pPr>
            <a:r>
              <a:rPr dirty="0"/>
              <a:t>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087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508760"/>
            <a:ext cx="64008" cy="1234440"/>
          </a:xfrm>
          <a:prstGeom prst="rect">
            <a:avLst/>
          </a:prstGeom>
          <a:solidFill>
            <a:srgbClr val="28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1" y="164591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978"/>
                </a:solidFill>
                <a:latin typeface="Aptos"/>
              </a:defRPr>
            </a:pPr>
            <a:r>
              <a:t>ANALYSIS 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1984248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  <a:latin typeface="Aptos Display"/>
              </a:defRPr>
            </a:pPr>
            <a:r>
              <a:rPr dirty="0"/>
              <a:t>Excel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10652760" cy="2423160"/>
          </a:xfrm>
          <a:prstGeom prst="roundRect">
            <a:avLst/>
          </a:prstGeom>
          <a:solidFill>
            <a:srgbClr val="F5F8FB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333756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rPr dirty="0"/>
              <a:t>Key fields used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rPr dirty="0"/>
              <a:t>Order Date • Order ID • Customer • Segment • Region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rPr dirty="0"/>
              <a:t>Category • Sub-Category • Product Name • Sales • Quantity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rPr dirty="0"/>
              <a:t>Discount • Profit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71500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978"/>
                </a:solidFill>
                <a:latin typeface="Aptos"/>
              </a:defRPr>
            </a:pPr>
            <a:r>
              <a:t>Dataset used for the project: Superstore Sales Dataset (Kaggle).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  <p:transition spd="med" advTm="9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1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5" dur="indefinite" nodeType="mainSeq"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8" dur="5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1" dur="55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4" dur="55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7" dur="55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3" grpId="0"/>
      <p:bldP spid="4" grpId="0"/>
      <p:bldP spid="9" grpId="0"/>
      <p:bldP spid="13" grpId="0"/>
      <p:bldP spid="17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rPr dirty="0"/>
              <a:t>Data Cleaning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978"/>
                </a:solidFill>
                <a:latin typeface="Aptos"/>
              </a:defRPr>
            </a:pPr>
            <a:r>
              <a:rPr dirty="0"/>
              <a:t>Steps completed before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15568"/>
            <a:ext cx="914400" cy="5486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914400" cy="658368"/>
          </a:xfrm>
          <a:prstGeom prst="round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399032"/>
            <a:ext cx="9052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Dataset structure</a:t>
            </a:r>
          </a:p>
          <a:p>
            <a:pPr>
              <a:defRPr sz="1250">
                <a:solidFill>
                  <a:srgbClr val="5C6978"/>
                </a:solidFill>
                <a:latin typeface="Aptos"/>
              </a:defRPr>
            </a:pPr>
            <a:r>
              <a:t>Reviewed 21 columns and 10,194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31720"/>
            <a:ext cx="914400" cy="658368"/>
          </a:xfrm>
          <a:prstGeom prst="round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450591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313432"/>
            <a:ext cx="9052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Duplicate check</a:t>
            </a:r>
          </a:p>
          <a:p>
            <a:pPr>
              <a:defRPr sz="1250">
                <a:solidFill>
                  <a:srgbClr val="5C6978"/>
                </a:solidFill>
                <a:latin typeface="Aptos"/>
              </a:defRPr>
            </a:pPr>
            <a:r>
              <a:t>Checked the dataset for duplicate rows; no duplicate values were found.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46120"/>
            <a:ext cx="914400" cy="658368"/>
          </a:xfrm>
          <a:prstGeom prst="round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364991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227832"/>
            <a:ext cx="9052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rPr dirty="0"/>
              <a:t>Missing values</a:t>
            </a:r>
          </a:p>
          <a:p>
            <a:pPr>
              <a:defRPr sz="1250">
                <a:solidFill>
                  <a:srgbClr val="5C6978"/>
                </a:solidFill>
                <a:latin typeface="Aptos"/>
              </a:defRPr>
            </a:pPr>
            <a:r>
              <a:rPr dirty="0"/>
              <a:t>Checked key fields including dates, customer, category, product, sales, quantity and profit.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60520"/>
            <a:ext cx="914400" cy="658368"/>
          </a:xfrm>
          <a:prstGeom prst="round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279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142232"/>
            <a:ext cx="9052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rPr dirty="0"/>
              <a:t>Date standardization</a:t>
            </a:r>
          </a:p>
          <a:p>
            <a:pPr>
              <a:defRPr sz="1250">
                <a:solidFill>
                  <a:srgbClr val="5C6978"/>
                </a:solidFill>
                <a:latin typeface="Aptos"/>
              </a:defRPr>
            </a:pPr>
            <a:r>
              <a:rPr dirty="0"/>
              <a:t>Standardized mixed Order Date formats into a clean date field.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074920"/>
            <a:ext cx="914400" cy="658368"/>
          </a:xfrm>
          <a:prstGeom prst="round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51937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056632"/>
            <a:ext cx="9052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rPr dirty="0"/>
              <a:t>Excel organization</a:t>
            </a:r>
          </a:p>
          <a:p>
            <a:pPr>
              <a:defRPr sz="1250">
                <a:solidFill>
                  <a:srgbClr val="5C6978"/>
                </a:solidFill>
                <a:latin typeface="Aptos"/>
              </a:defRPr>
            </a:pPr>
            <a:r>
              <a:rPr dirty="0"/>
              <a:t>Converted the data into an Excel Table for easier filtering and analysis.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  <p:transition spd="med" advTm="1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/>
      <p:bldP spid="11" grpId="0"/>
      <p:bldP spid="14" grpId="0"/>
      <p:bldP spid="17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rPr dirty="0"/>
              <a:t>KPI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978"/>
                </a:solidFill>
                <a:latin typeface="Aptos"/>
              </a:defRPr>
            </a:pPr>
            <a:r>
              <a:rPr dirty="0"/>
              <a:t>Overall business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15568"/>
            <a:ext cx="914400" cy="5486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26060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64008" cy="1371600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645919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978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98424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  <a:latin typeface="Aptos Display"/>
              </a:defRPr>
            </a:pPr>
            <a:r>
              <a:rPr dirty="0"/>
              <a:t>₹23,26,534.35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508760"/>
            <a:ext cx="26060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1508760"/>
            <a:ext cx="64008" cy="1371600"/>
          </a:xfrm>
          <a:prstGeom prst="rect">
            <a:avLst/>
          </a:prstGeom>
          <a:solidFill>
            <a:srgbClr val="28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47872" y="1645919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978"/>
                </a:solidFill>
                <a:latin typeface="Aptos"/>
              </a:defRPr>
            </a:pPr>
            <a:r>
              <a:t>TOTAL 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198424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  <a:latin typeface="Aptos Display"/>
              </a:defRPr>
            </a:pPr>
            <a:r>
              <a:rPr dirty="0"/>
              <a:t>₹2,92,296.81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508760"/>
            <a:ext cx="26060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1508760"/>
            <a:ext cx="64008" cy="1371600"/>
          </a:xfrm>
          <a:prstGeom prst="rect">
            <a:avLst/>
          </a:prstGeom>
          <a:solidFill>
            <a:srgbClr val="DC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91072" y="1645919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978"/>
                </a:solidFill>
                <a:latin typeface="Aptos"/>
              </a:defRPr>
            </a:pPr>
            <a:r>
              <a:t>TOTAL QUANTITY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198424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  <a:latin typeface="Aptos Display"/>
              </a:defRPr>
            </a:pPr>
            <a:r>
              <a:rPr dirty="0"/>
              <a:t>38,654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508760"/>
            <a:ext cx="26060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869680" y="1508760"/>
            <a:ext cx="64008" cy="13716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34272" y="1645919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978"/>
                </a:solidFill>
                <a:latin typeface="Aptos"/>
              </a:defRPr>
            </a:pPr>
            <a:r>
              <a:t>TOTAL 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98424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  <a:latin typeface="Aptos Display"/>
              </a:defRPr>
            </a:pPr>
            <a:r>
              <a:rPr dirty="0"/>
              <a:t>5,111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383280"/>
            <a:ext cx="10835640" cy="1828800"/>
          </a:xfrm>
          <a:prstGeom prst="roundRect">
            <a:avLst/>
          </a:prstGeom>
          <a:solidFill>
            <a:srgbClr val="F5F8FB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657600"/>
            <a:ext cx="10241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rPr dirty="0"/>
              <a:t>Overall Profit Margin</a:t>
            </a:r>
          </a:p>
          <a:p>
            <a:pPr>
              <a:defRPr sz="3000" b="1">
                <a:solidFill>
                  <a:srgbClr val="149191"/>
                </a:solidFill>
                <a:latin typeface="Aptos Display"/>
              </a:defRPr>
            </a:pPr>
            <a:r>
              <a:rPr dirty="0"/>
              <a:t>12.56%</a:t>
            </a:r>
          </a:p>
          <a:p>
            <a:pPr>
              <a:defRPr sz="1300">
                <a:solidFill>
                  <a:srgbClr val="5C6978"/>
                </a:solidFill>
                <a:latin typeface="Aptos"/>
              </a:defRPr>
            </a:pPr>
            <a:r>
              <a:rPr dirty="0"/>
              <a:t>The dashboard combines revenue, profitability, volume and order-level KPIs for a quick business overview.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  <p:transition spd="med" advTm="9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dur="indefinite" nodeType="mainSeq"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9" dur="5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2" dur="55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5" dur="55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8" dur="55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3" grpId="0"/>
      <p:bldP spid="4" grpId="0"/>
      <p:bldP spid="9" grpId="0"/>
      <p:bldP spid="13" grpId="0"/>
      <p:bldP spid="17" grpId="0"/>
      <p:bldP spid="21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rPr dirty="0"/>
              <a:t>Monthly Sales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978"/>
                </a:solidFill>
                <a:latin typeface="Aptos"/>
              </a:defRPr>
            </a:pPr>
            <a:r>
              <a:rPr dirty="0"/>
              <a:t>Sales movement across the available Order Date periods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15568"/>
            <a:ext cx="914400" cy="5486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8356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608076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978"/>
                </a:solidFill>
                <a:latin typeface="Aptos"/>
              </a:defRPr>
            </a:pPr>
            <a:r>
              <a:rPr dirty="0"/>
              <a:t>The trend shows clear month-to-month variation, with several strong sales peaks followed by lower periods.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8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8998E7-0577-9BE1-D037-3BC6D413A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205" y="1622322"/>
            <a:ext cx="7811590" cy="3997733"/>
          </a:xfrm>
          <a:prstGeom prst="rect">
            <a:avLst/>
          </a:prstGeom>
        </p:spPr>
      </p:pic>
    </p:spTree>
  </p:cSld>
  <p:clrMapOvr>
    <a:masterClrMapping/>
  </p:clrMapOvr>
  <p:transition spd="med" advTm="1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rPr dirty="0"/>
              <a:t>Category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978"/>
                </a:solidFill>
                <a:latin typeface="Aptos"/>
              </a:defRPr>
            </a:pPr>
            <a:r>
              <a:rPr dirty="0"/>
              <a:t>Sales, profit and profitability by major category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15568"/>
            <a:ext cx="914400" cy="5486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52360" y="1554480"/>
            <a:ext cx="3977639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52360" y="1554480"/>
            <a:ext cx="64008" cy="1051560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16952" y="1691639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978"/>
                </a:solidFill>
                <a:latin typeface="Aptos"/>
              </a:defRPr>
            </a:pPr>
            <a:r>
              <a:t>TECHNOLOGY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2" y="2029967"/>
            <a:ext cx="37490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  <a:latin typeface="Aptos Display"/>
              </a:defRPr>
            </a:pPr>
            <a:r>
              <a:t>₹839,893.28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2788920"/>
            <a:ext cx="3977639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52360" y="2788920"/>
            <a:ext cx="64008" cy="1051560"/>
          </a:xfrm>
          <a:prstGeom prst="rect">
            <a:avLst/>
          </a:prstGeom>
          <a:solidFill>
            <a:srgbClr val="28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16952" y="2926079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978"/>
                </a:solidFill>
                <a:latin typeface="Aptos"/>
              </a:defRPr>
            </a:pPr>
            <a:r>
              <a:t>TECHNOLOGY 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3264408"/>
            <a:ext cx="37490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  <a:latin typeface="Aptos Display"/>
              </a:defRPr>
            </a:pPr>
            <a:r>
              <a:rPr dirty="0"/>
              <a:t>₹146,543.38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4023360"/>
            <a:ext cx="3977639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52360" y="4023360"/>
            <a:ext cx="64008" cy="105156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16952" y="416052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978"/>
                </a:solidFill>
                <a:latin typeface="Aptos"/>
              </a:defRPr>
            </a:pPr>
            <a:r>
              <a:rPr dirty="0"/>
              <a:t>TECHNOLOGY MARGIN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4498848"/>
            <a:ext cx="37490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  <a:latin typeface="Aptos Display"/>
              </a:defRPr>
            </a:pPr>
            <a:r>
              <a:rPr dirty="0"/>
              <a:t>17.45%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5349240"/>
            <a:ext cx="3840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BE4646"/>
                </a:solidFill>
                <a:latin typeface="Aptos"/>
              </a:defRPr>
            </a:pPr>
            <a:r>
              <a:rPr dirty="0"/>
              <a:t>Furniture margin: 2.61% — substantially lower than the other categories.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8"/>
                </a:solidFill>
                <a:latin typeface="Aptos"/>
              </a:defRPr>
            </a:pPr>
            <a:r>
              <a:t>7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F20892D-888C-1967-083A-3EBC6A934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1" y="1554480"/>
            <a:ext cx="5451986" cy="3858769"/>
          </a:xfrm>
          <a:prstGeom prst="rect">
            <a:avLst/>
          </a:prstGeom>
        </p:spPr>
      </p:pic>
    </p:spTree>
  </p:cSld>
  <p:clrMapOvr>
    <a:masterClrMapping/>
  </p:clrMapOvr>
  <p:transition spd="med" advTm="1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6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dur="indefinite" nodeType="mainSeq"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9" dur="55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2" dur="55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5" dur="55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3" grpId="0"/>
      <p:bldP spid="4" grpId="0"/>
      <p:bldP spid="10" grpId="0"/>
      <p:bldP spid="11" grpId="0" animBg="1"/>
      <p:bldP spid="14" grpId="0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rPr dirty="0"/>
              <a:t>Top 10 Products by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978"/>
                </a:solidFill>
                <a:latin typeface="Aptos"/>
              </a:defRPr>
            </a:pPr>
            <a:r>
              <a:t>Highest-sales products identified from the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15568"/>
            <a:ext cx="914400" cy="5486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704088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909560" y="16002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909560" y="1600200"/>
            <a:ext cx="64008" cy="1143000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74152" y="173736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978"/>
                </a:solidFill>
                <a:latin typeface="Aptos"/>
              </a:defRPr>
            </a:pPr>
            <a:r>
              <a:t>TOP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2075688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  <a:latin typeface="Aptos Display"/>
              </a:defRPr>
            </a:pPr>
            <a:r>
              <a:t>Canon imageCLASS 2200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29718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09560" y="2971800"/>
            <a:ext cx="64008" cy="1143000"/>
          </a:xfrm>
          <a:prstGeom prst="rect">
            <a:avLst/>
          </a:prstGeom>
          <a:solidFill>
            <a:srgbClr val="28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74152" y="310896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978"/>
                </a:solidFill>
                <a:latin typeface="Aptos"/>
              </a:defRPr>
            </a:pPr>
            <a:r>
              <a:t>TOP PRODUCT SALES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4152" y="3447288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  <a:latin typeface="Aptos Display"/>
              </a:defRPr>
            </a:pPr>
            <a:r>
              <a:rPr dirty="0"/>
              <a:t>₹61,599.82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43434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09560" y="4343400"/>
            <a:ext cx="64008" cy="1143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74152" y="448056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978"/>
                </a:solidFill>
                <a:latin typeface="Aptos"/>
              </a:defRPr>
            </a:pPr>
            <a:r>
              <a:t>TOP 10 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4818888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  <a:latin typeface="Aptos Display"/>
              </a:defRPr>
            </a:pPr>
            <a:r>
              <a:t>₹244,620.20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8"/>
                </a:solidFill>
                <a:latin typeface="Aptos"/>
              </a:defRPr>
            </a:pPr>
            <a:r>
              <a:t>8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01EE17F-206E-331E-C6D2-3CF67C063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90" y="1719072"/>
            <a:ext cx="6099255" cy="4259830"/>
          </a:xfrm>
          <a:prstGeom prst="rect">
            <a:avLst/>
          </a:prstGeom>
        </p:spPr>
      </p:pic>
    </p:spTree>
  </p:cSld>
  <p:clrMapOvr>
    <a:masterClrMapping/>
  </p:clrMapOvr>
  <p:transition spd="med" advTm="1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9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6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5" dur="indefinite" nodeType="mainSeq"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8" dur="55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1" dur="55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4" dur="55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3" grpId="0"/>
      <p:bldP spid="4" grpId="0"/>
      <p:bldP spid="11" grpId="0"/>
      <p:bldP spid="15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rPr dirty="0"/>
              <a:t>Key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978"/>
                </a:solidFill>
                <a:latin typeface="Aptos"/>
              </a:defRPr>
            </a:pPr>
            <a:r>
              <a:rPr dirty="0"/>
              <a:t>What the analysis tells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15568"/>
            <a:ext cx="914400" cy="5486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1426464"/>
            <a:ext cx="164592" cy="164592"/>
          </a:xfrm>
          <a:prstGeom prst="ellipse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353312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33C"/>
                </a:solidFill>
                <a:latin typeface="Aptos"/>
              </a:defRPr>
            </a:pPr>
            <a:r>
              <a:rPr dirty="0"/>
              <a:t>Overall Performance</a:t>
            </a:r>
          </a:p>
          <a:p>
            <a:pPr>
              <a:defRPr sz="1150">
                <a:solidFill>
                  <a:srgbClr val="5C6978"/>
                </a:solidFill>
                <a:latin typeface="Aptos"/>
              </a:defRPr>
            </a:pPr>
            <a:r>
              <a:rPr dirty="0"/>
              <a:t>Total sales were ₹2.33 million and total profit was ₹292.30K.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249424"/>
            <a:ext cx="164592" cy="164592"/>
          </a:xfrm>
          <a:prstGeom prst="ellipse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176272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33C"/>
                </a:solidFill>
                <a:latin typeface="Aptos"/>
              </a:defRPr>
            </a:pPr>
            <a:r>
              <a:rPr dirty="0"/>
              <a:t>Category Performance</a:t>
            </a:r>
          </a:p>
          <a:p>
            <a:pPr>
              <a:defRPr sz="1150">
                <a:solidFill>
                  <a:srgbClr val="5C6978"/>
                </a:solidFill>
                <a:latin typeface="Aptos"/>
              </a:defRPr>
            </a:pPr>
            <a:r>
              <a:rPr dirty="0"/>
              <a:t>Technology generated the highest sales (₹839,893.28) and highest profit (₹146,543.38).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072384"/>
            <a:ext cx="164592" cy="164592"/>
          </a:xfrm>
          <a:prstGeom prst="ellipse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999232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33C"/>
                </a:solidFill>
                <a:latin typeface="Aptos"/>
              </a:defRPr>
            </a:pPr>
            <a:r>
              <a:rPr dirty="0"/>
              <a:t>Furniture Performance</a:t>
            </a:r>
          </a:p>
          <a:p>
            <a:pPr>
              <a:defRPr sz="1150">
                <a:solidFill>
                  <a:srgbClr val="5C6978"/>
                </a:solidFill>
                <a:latin typeface="Aptos"/>
              </a:defRPr>
            </a:pPr>
            <a:r>
              <a:rPr dirty="0"/>
              <a:t>Furniture generated ₹754,747.76 in sales but only ₹19,729.99 in profit, indicating lower profitability.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895344"/>
            <a:ext cx="164592" cy="164592"/>
          </a:xfrm>
          <a:prstGeom prst="ellipse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33C"/>
                </a:solidFill>
                <a:latin typeface="Aptos"/>
              </a:defRPr>
            </a:pPr>
            <a:r>
              <a:rPr dirty="0"/>
              <a:t>Product Performance</a:t>
            </a:r>
          </a:p>
          <a:p>
            <a:pPr>
              <a:defRPr sz="1150">
                <a:solidFill>
                  <a:srgbClr val="5C6978"/>
                </a:solidFill>
                <a:latin typeface="Aptos"/>
              </a:defRPr>
            </a:pPr>
            <a:r>
              <a:rPr dirty="0"/>
              <a:t>Canon </a:t>
            </a:r>
            <a:r>
              <a:rPr dirty="0" err="1"/>
              <a:t>imageCLASS</a:t>
            </a:r>
            <a:r>
              <a:rPr dirty="0"/>
              <a:t> 2200 Advanced Copier was the highest-sales product at ₹61,599.82.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18304"/>
            <a:ext cx="164592" cy="164592"/>
          </a:xfrm>
          <a:prstGeom prst="ellipse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645152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33C"/>
                </a:solidFill>
                <a:latin typeface="Aptos"/>
              </a:defRPr>
            </a:pPr>
            <a:r>
              <a:rPr dirty="0"/>
              <a:t>Loss-Making Products</a:t>
            </a:r>
          </a:p>
          <a:p>
            <a:pPr>
              <a:defRPr sz="1150">
                <a:solidFill>
                  <a:srgbClr val="5C6978"/>
                </a:solidFill>
                <a:latin typeface="Aptos"/>
              </a:defRPr>
            </a:pPr>
            <a:r>
              <a:rPr dirty="0"/>
              <a:t>Some top-selling products recorded negative profit and require further pricing, discount or cost review.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541264"/>
            <a:ext cx="164592" cy="164592"/>
          </a:xfrm>
          <a:prstGeom prst="ellipse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5468112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33C"/>
                </a:solidFill>
                <a:latin typeface="Aptos"/>
              </a:defRPr>
            </a:pPr>
            <a:r>
              <a:rPr dirty="0"/>
              <a:t>Profitability</a:t>
            </a:r>
          </a:p>
          <a:p>
            <a:pPr>
              <a:defRPr sz="1150">
                <a:solidFill>
                  <a:srgbClr val="5C6978"/>
                </a:solidFill>
                <a:latin typeface="Aptos"/>
              </a:defRPr>
            </a:pPr>
            <a:r>
              <a:rPr dirty="0"/>
              <a:t>Technology had the highest margin at 17.45%, followed by Office Supplies at 17.22%; Furniture was 2.61%.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8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  <p:transition spd="med" advTm="1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9" grpId="0"/>
      <p:bldP spid="11" grpId="0"/>
      <p:bldP spid="13" grpId="0"/>
      <p:bldP spid="15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rPr dirty="0"/>
              <a:t>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978"/>
                </a:solidFill>
                <a:latin typeface="Aptos"/>
              </a:defRPr>
            </a:pPr>
            <a:r>
              <a:rPr dirty="0"/>
              <a:t>Actions suggested from the observed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15568"/>
            <a:ext cx="914400" cy="5486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1417320"/>
            <a:ext cx="594360" cy="594360"/>
          </a:xfrm>
          <a:prstGeom prst="ellipse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399032"/>
            <a:ext cx="9692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  <a:latin typeface="Aptos"/>
              </a:defRPr>
            </a:pPr>
            <a:r>
              <a:rPr dirty="0"/>
              <a:t>Technology</a:t>
            </a:r>
          </a:p>
          <a:p>
            <a:pPr>
              <a:defRPr sz="1250">
                <a:solidFill>
                  <a:srgbClr val="5C6978"/>
                </a:solidFill>
                <a:latin typeface="Aptos"/>
              </a:defRPr>
            </a:pPr>
            <a:r>
              <a:rPr dirty="0"/>
              <a:t>Continue monitoring high-performing Technology products because the category contributes strongly to both sales and profit.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60320"/>
            <a:ext cx="594360" cy="594360"/>
          </a:xfrm>
          <a:prstGeom prst="ellipse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697479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542032"/>
            <a:ext cx="9692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  <a:latin typeface="Aptos"/>
              </a:defRPr>
            </a:pPr>
            <a:r>
              <a:rPr dirty="0"/>
              <a:t>Furniture</a:t>
            </a:r>
          </a:p>
          <a:p>
            <a:pPr>
              <a:defRPr sz="1250">
                <a:solidFill>
                  <a:srgbClr val="5C6978"/>
                </a:solidFill>
                <a:latin typeface="Aptos"/>
              </a:defRPr>
            </a:pPr>
            <a:r>
              <a:rPr dirty="0"/>
              <a:t>Investigate pricing, discounts and product-level margins to understand the low profit relative to sales.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703320"/>
            <a:ext cx="594360" cy="594360"/>
          </a:xfrm>
          <a:prstGeom prst="ellipse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84048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685032"/>
            <a:ext cx="9692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  <a:latin typeface="Aptos"/>
              </a:defRPr>
            </a:pPr>
            <a:r>
              <a:rPr dirty="0"/>
              <a:t>Loss-Making Products</a:t>
            </a:r>
          </a:p>
          <a:p>
            <a:pPr>
              <a:defRPr sz="1250">
                <a:solidFill>
                  <a:srgbClr val="5C6978"/>
                </a:solidFill>
                <a:latin typeface="Aptos"/>
              </a:defRPr>
            </a:pPr>
            <a:r>
              <a:rPr dirty="0"/>
              <a:t>Review products with negative profit and investigate whether pricing, discounts or costs are driving losses.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846320"/>
            <a:ext cx="594360" cy="594360"/>
          </a:xfrm>
          <a:prstGeom prst="ellipse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98348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828032"/>
            <a:ext cx="9692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  <a:latin typeface="Aptos"/>
              </a:defRPr>
            </a:pPr>
            <a:r>
              <a:rPr dirty="0"/>
              <a:t>Product Performance</a:t>
            </a:r>
          </a:p>
          <a:p>
            <a:pPr>
              <a:defRPr sz="1250">
                <a:solidFill>
                  <a:srgbClr val="5C6978"/>
                </a:solidFill>
                <a:latin typeface="Aptos"/>
              </a:defRPr>
            </a:pPr>
            <a:r>
              <a:rPr dirty="0"/>
              <a:t>Monitor high-sales products regularly to ensure strong revenue is also translating into healthy profitability.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  <p:transition spd="med" advTm="1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/>
      <p:bldP spid="11" grpId="0"/>
      <p:bldP spid="14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rPr dirty="0"/>
              <a:t>Final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978"/>
                </a:solidFill>
                <a:latin typeface="Aptos"/>
              </a:defRPr>
            </a:pPr>
            <a:r>
              <a:rPr dirty="0"/>
              <a:t>Excel dashboard developed for business reporting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15568"/>
            <a:ext cx="914400" cy="5486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1133856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8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2F338D-E012-CB96-0AC9-FC8C8976E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052" y="1463040"/>
            <a:ext cx="10058400" cy="4800600"/>
          </a:xfrm>
          <a:prstGeom prst="rect">
            <a:avLst/>
          </a:prstGeom>
        </p:spPr>
      </p:pic>
    </p:spTree>
  </p:cSld>
  <p:clrMapOvr>
    <a:masterClrMapping/>
  </p:clrMapOvr>
  <p:transition spd="med" advClick="0" advTm="1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A4A5B4-BF2B-AF0A-EC9C-CFE782B9A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018" y="914400"/>
            <a:ext cx="9497963" cy="5132439"/>
          </a:xfrm>
          <a:prstGeom prst="rect">
            <a:avLst/>
          </a:prstGeom>
        </p:spPr>
      </p:pic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4DBBD010-7252-37D8-F222-C517E59F5A0C}"/>
              </a:ext>
            </a:extLst>
          </p:cNvPr>
          <p:cNvSpPr/>
          <p:nvPr/>
        </p:nvSpPr>
        <p:spPr>
          <a:xfrm>
            <a:off x="825910" y="688258"/>
            <a:ext cx="10835148" cy="5594555"/>
          </a:xfrm>
          <a:prstGeom prst="flowChartAlternateProcess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0643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">
        <p:fade/>
      </p:transition>
    </mc:Choice>
    <mc:Fallback xmlns="">
      <p:transition spd="med" advClick="0" advTm="1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393" y="2331720"/>
            <a:ext cx="9710735" cy="1923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1900">
                <a:solidFill>
                  <a:srgbClr val="D7E1EB"/>
                </a:solidFill>
                <a:latin typeface="Aptos"/>
              </a:defRPr>
            </a:pPr>
            <a:r>
              <a:rPr dirty="0"/>
              <a:t>The analysis transformed raw Superstore sales data into a structured Excel dashboard with </a:t>
            </a:r>
            <a:endParaRPr lang="en-US" dirty="0"/>
          </a:p>
          <a:p>
            <a:pPr algn="ctr">
              <a:lnSpc>
                <a:spcPct val="150000"/>
              </a:lnSpc>
              <a:defRPr sz="1900">
                <a:solidFill>
                  <a:srgbClr val="D7E1EB"/>
                </a:solidFill>
                <a:latin typeface="Aptos"/>
              </a:defRPr>
            </a:pPr>
            <a:r>
              <a:rPr dirty="0"/>
              <a:t>clear KPIs, trends, category comparisons and product-level insights.</a:t>
            </a:r>
          </a:p>
          <a:p>
            <a:pPr algn="ctr">
              <a:spcBef>
                <a:spcPts val="1800"/>
              </a:spcBef>
              <a:defRPr sz="1600">
                <a:solidFill>
                  <a:srgbClr val="BECDDA"/>
                </a:solidFill>
                <a:latin typeface="Aptos"/>
              </a:defRPr>
            </a:pPr>
            <a:r>
              <a:rPr dirty="0"/>
              <a:t>The findings highlight opportunities to protect strong Technology performance and improve</a:t>
            </a:r>
            <a:endParaRPr lang="en-US" dirty="0"/>
          </a:p>
          <a:p>
            <a:pPr algn="ctr">
              <a:spcBef>
                <a:spcPts val="1800"/>
              </a:spcBef>
              <a:defRPr sz="1600">
                <a:solidFill>
                  <a:srgbClr val="BECDDA"/>
                </a:solidFill>
                <a:latin typeface="Aptos"/>
              </a:defRPr>
            </a:pPr>
            <a:r>
              <a:rPr dirty="0"/>
              <a:t> profitability in lower-margin and loss-making products.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6360" y="4709160"/>
            <a:ext cx="1828800" cy="5486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507492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49191"/>
                </a:solidFill>
                <a:latin typeface="Aptos Display"/>
              </a:defRPr>
            </a:pPr>
            <a:r>
              <a:rPr dirty="0"/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66928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B4C3D2"/>
                </a:solidFill>
                <a:latin typeface="Aptos"/>
              </a:defRPr>
            </a:pPr>
            <a:r>
              <a:rPr dirty="0" err="1"/>
              <a:t>ShadowFox</a:t>
            </a:r>
            <a:r>
              <a:rPr dirty="0"/>
              <a:t> Data Analyst Internship — Beginner Level | </a:t>
            </a:r>
            <a:r>
              <a:rPr dirty="0" err="1"/>
              <a:t>Prensi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">
        <p:fade/>
      </p:transition>
    </mc:Choice>
    <mc:Fallback xmlns="">
      <p:transition spd="med" advClick="0" advTm="1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6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8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8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4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2" dur="indefinite" nodeType="mainSeq"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5" dur="5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3" grpId="0"/>
      <p:bldP spid="6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637</Words>
  <Application>Microsoft Office PowerPoint</Application>
  <PresentationFormat>Widescreen</PresentationFormat>
  <Paragraphs>123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saxenaayush361@hotmail.com</cp:lastModifiedBy>
  <cp:revision>3</cp:revision>
  <dcterms:created xsi:type="dcterms:W3CDTF">2013-01-27T09:14:16Z</dcterms:created>
  <dcterms:modified xsi:type="dcterms:W3CDTF">2026-09-24T19:11:07Z</dcterms:modified>
  <cp:category/>
</cp:coreProperties>
</file>